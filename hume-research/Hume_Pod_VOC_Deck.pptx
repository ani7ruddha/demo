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9AA2AD"/>
                </a:solidFill>
                <a:latin typeface="Arial"/>
              </a:rPr>
              <a:t>VOICE OF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5F6F8"/>
                </a:solidFill>
                <a:latin typeface="Arial"/>
              </a:rPr>
              <a:t>Why People Buy the Hume Pod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4ADE80"/>
                </a:solidFill>
                <a:latin typeface="Arial"/>
              </a:rPr>
              <a:t>— and what's blocking the sale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9AA2AD"/>
                </a:solidFill>
                <a:latin typeface="Arial"/>
              </a:rPr>
              <a:t>Cross-source research:  8,364 Facebook ad comments  ·  Trustpilot  ·  BBB  ·  Reddit  ·  independent reviewers  ·  Amazon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Apr 1 – Jun 16, 2026   |   Prepared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What we studied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97480" cy="173736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4ADE80"/>
                </a:solidFill>
                <a:latin typeface="Arial"/>
              </a:rPr>
              <a:t>8,364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Facebook ad comments analyzed (Apr–Jun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828800"/>
            <a:ext cx="2697480" cy="173736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0116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4ADE80"/>
                </a:solidFill>
                <a:latin typeface="Arial"/>
              </a:rPr>
              <a:t>6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independent data sources triangulated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828800"/>
            <a:ext cx="2697480" cy="173736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20116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4ADE80"/>
                </a:solidFill>
                <a:latin typeface="Arial"/>
              </a:rPr>
              <a:t>~50%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of all comments are negative — every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828800"/>
            <a:ext cx="2697480" cy="173736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201168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4ADE80"/>
                </a:solidFill>
                <a:latin typeface="Arial"/>
              </a:rPr>
              <a:t>12 wks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of weekly trend data (W14–W25)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FFC14D"/>
                </a:solidFill>
                <a:latin typeface="Arial"/>
              </a:rPr>
              <a:t>Sources &amp; reliability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2AD"/>
                </a:solidFill>
                <a:latin typeface="Arial"/>
              </a:rPr>
              <a:t>•  Facebook ad comments — primary VOC (labeled by theme &amp; sentiment in the export)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2AD"/>
                </a:solidFill>
                <a:latin typeface="Arial"/>
              </a:rPr>
              <a:t>•  BBB — fully verified, dated verbatim complaints (strongest negative evidence)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2AD"/>
                </a:solidFill>
                <a:latin typeface="Arial"/>
              </a:rPr>
              <a:t>•  Trustpilot ~3.6/5 — rating via search snippets (histogram blocked)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2AD"/>
                </a:solidFill>
                <a:latin typeface="Arial"/>
              </a:rPr>
              <a:t>•  Reddit — second-hand via aggregators (Reddit hard-blocked); treat as directional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9AA2AD"/>
                </a:solidFill>
                <a:latin typeface="Arial"/>
              </a:rPr>
              <a:t>•  Independent reviewers (MedGrade/Cybernews) + Amazon India page un-scrapeable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DE80"/>
                </a:solidFill>
                <a:latin typeface="Arial"/>
              </a:rPr>
              <a:t>The takeaway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Demand is real and emotionally strong — but trust and post-purchase operations are actively killing conversions.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6B6B"/>
                </a:solidFill>
                <a:latin typeface="Arial"/>
              </a:rPr>
              <a:t>The comment data runs ~50% negative, every single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The 3 numbers that tell the 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77295" cy="132588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63500" cy="13258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FF6B6B"/>
                </a:solidFill>
                <a:latin typeface="Arial"/>
              </a:rPr>
              <a:t>4.8  vs  3.6  vs  F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Hume's own site (4.8/5) vs independent Trustpilot (~3.6) vs BBB "F" (1.01/5, 263 unanswered complaints). The #1 strategic risk — prospects find it and talk each other out of buying.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10128"/>
            <a:ext cx="11277295" cy="132588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10128"/>
            <a:ext cx="63500" cy="132588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38144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FFC14D"/>
                </a:solidFill>
                <a:latin typeface="Arial"/>
              </a:rPr>
              <a:t>~50% negative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Every week (W14–W25) — structural, not a bad week. Complaints migrate from "too expensive" → "I regret buying" as units 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91456"/>
            <a:ext cx="11277295" cy="132588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91456"/>
            <a:ext cx="63500" cy="13258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4ADE80"/>
                </a:solidFill>
                <a:latin typeface="Arial"/>
              </a:rPr>
              <a:t>#1 driver: the "anti-scale"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For GLP-1 users — "a regular scale can be so discouraging." The most defensible, repeatable ad angle.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What every source agrees 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7455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322222"/>
                <a:gridCol w="1322222"/>
                <a:gridCol w="1322222"/>
                <a:gridCol w="1322222"/>
                <a:gridCol w="1322222"/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Theme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FB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Trustpilot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BBB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Reddit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Arial"/>
                        </a:rPr>
                        <a:t>Indep.</a:t>
                      </a:r>
                    </a:p>
                  </a:txBody>
                  <a:tcPr anchor="ctr" marL="109728" marT="18288" marB="18288">
                    <a:solidFill>
                      <a:srgbClr val="1F4E7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5F6F8"/>
                          </a:solidFill>
                          <a:latin typeface="Arial"/>
                        </a:rPr>
                        <a:t>Strong appeal (anti-scale / rich metrics)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AA2A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5F6F8"/>
                          </a:solidFill>
                          <a:latin typeface="Arial"/>
                        </a:rPr>
                        <a:t>Customer service / refund failures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6B6B"/>
                          </a:solidFill>
                          <a:latin typeface="Arial"/>
                        </a:rPr>
                        <a:t>Severe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AA2A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5F6F8"/>
                          </a:solidFill>
                          <a:latin typeface="Arial"/>
                        </a:rPr>
                        <a:t>Accuracy doubt vs DEXA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6B6B"/>
                          </a:solidFill>
                          <a:latin typeface="Arial"/>
                        </a:rPr>
                        <a:t>Severe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5F6F8"/>
                          </a:solidFill>
                          <a:latin typeface="Arial"/>
                        </a:rPr>
                        <a:t>Trust / scam / legitimacy doubt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6B6B"/>
                          </a:solidFill>
                          <a:latin typeface="Arial"/>
                        </a:rPr>
                        <a:t>FitTrack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AA2AD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109728" marT="18288" marB="18288">
                    <a:solidFill>
                      <a:srgbClr val="17191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F5F6F8"/>
                          </a:solidFill>
                          <a:latin typeface="Arial"/>
                        </a:rPr>
                        <a:t>Price &amp; hidden subscription friction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DE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109728" marT="18288" marB="18288">
                    <a:solidFill>
                      <a:srgbClr val="1E21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100584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5F6F8"/>
                </a:solidFill>
                <a:latin typeface="Arial"/>
              </a:rPr>
              <a:t>WHY THEY BUY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Purchase drivers, ranked by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Why they buy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00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4ADE80"/>
                </a:solidFill>
                <a:latin typeface="Arial"/>
              </a:rPr>
              <a:t>1  Progress tracking &amp; motivation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AA2AD"/>
                </a:solidFill>
                <a:latin typeface="Arial"/>
              </a:rPr>
              <a:t>GLP-1 / weight-loss users — the "anti-scale"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4ADE80"/>
                </a:solidFill>
                <a:latin typeface="Arial"/>
              </a:rPr>
              <a:t>2  Detailed metrics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AA2AD"/>
                </a:solidFill>
                <a:latin typeface="Arial"/>
              </a:rPr>
              <a:t>"learn about my body" — fat, muscle, HRV, sleep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5486400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4ADE80"/>
                </a:solidFill>
                <a:latin typeface="Arial"/>
              </a:rPr>
              <a:t>3  At-home convenience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AA2AD"/>
                </a:solidFill>
                <a:latin typeface="Arial"/>
              </a:rPr>
              <a:t>"body-composition scanner at home," &lt;60s 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486400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4ADE80"/>
                </a:solidFill>
                <a:latin typeface="Arial"/>
              </a:rPr>
              <a:t>4  Preventative peace of mind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AA2AD"/>
                </a:solidFill>
                <a:latin typeface="Arial"/>
              </a:rPr>
              <a:t>catch problems early (esp. Band buyers)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94960"/>
            <a:ext cx="5486400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4ADE80"/>
                </a:solidFill>
                <a:latin typeface="Arial"/>
              </a:rPr>
              <a:t>5  Gifting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9AA2AD"/>
                </a:solidFill>
                <a:latin typeface="Arial"/>
              </a:rPr>
              <a:t>Mother's / Father's Day recurring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5486400" cy="4498848"/>
          </a:xfrm>
          <a:prstGeom prst="rect">
            <a:avLst/>
          </a:prstGeom>
          <a:solidFill>
            <a:srgbClr val="17191E"/>
          </a:solidFill>
          <a:ln w="12700">
            <a:solidFill>
              <a:srgbClr val="2C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FFC14D"/>
                </a:solidFill>
                <a:latin typeface="Arial"/>
              </a:rPr>
              <a:t>In their words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 b="0" i="1">
                <a:solidFill>
                  <a:srgbClr val="F5F6F8"/>
                </a:solidFill>
                <a:latin typeface="Arial"/>
              </a:rPr>
              <a:t>"My husband got me one for Mother's Day as I am on a GLP-1 weight loss journey and a regular scale can be so discouraging — it educates me AND helps my mental health."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 b="0" i="1">
                <a:solidFill>
                  <a:srgbClr val="F5F6F8"/>
                </a:solidFill>
                <a:latin typeface="Arial"/>
              </a:rPr>
              <a:t>"I didn't expect to learn so much about my body — the sleep and HRV insights are really accurate."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250" b="0" i="1">
                <a:solidFill>
                  <a:srgbClr val="F5F6F8"/>
                </a:solidFill>
                <a:latin typeface="Arial"/>
              </a:rPr>
              <a:t>"It's like having your own body composition scanner at home."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100584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5F6F8"/>
                </a:solidFill>
                <a:latin typeface="Arial"/>
              </a:rPr>
              <a:t>WHAT'S BLOCKING THE SALE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Objections, ranked by comment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Core objections (of 4,696 negative comments)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680960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Customer service / returns / refunds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8196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6B6B"/>
                </a:solidFill>
                <a:latin typeface="Arial"/>
              </a:rPr>
              <a:t>13%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4135901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963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Price confusion  ($199 ad → $249 cart)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5973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6B6B"/>
                </a:solidFill>
                <a:latin typeface="Arial"/>
              </a:rPr>
              <a:t>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4135901" cy="54864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Shipping / delivery delays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998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C14D"/>
                </a:solidFill>
                <a:latin typeface="Arial"/>
              </a:rPr>
              <a:t>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2954215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764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Scam / legitimacy doubt  (FitTrack + "FAKE" videos)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7398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6B6B"/>
                </a:solidFill>
                <a:latin typeface="Arial"/>
              </a:rPr>
              <a:t>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2954215" cy="54864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165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Hidden subscription / membership fee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7997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C14D"/>
                </a:solidFill>
                <a:latin typeface="Arial"/>
              </a:rPr>
              <a:t>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2954215" cy="54864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566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App / Bluetooth / connectivity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0200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C14D"/>
                </a:solidFill>
                <a:latin typeface="Arial"/>
              </a:rPr>
              <a:t>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7680960" cy="5486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623560"/>
            <a:ext cx="2363372" cy="548640"/>
          </a:xfrm>
          <a:prstGeom prst="rect">
            <a:avLst/>
          </a:prstGeom>
          <a:solidFill>
            <a:srgbClr val="9AA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967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5F6F8"/>
                </a:solidFill>
                <a:latin typeface="Arial"/>
              </a:rPr>
              <a:t>Accuracy / BIA limitations vs DEXA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66013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9AA2AD"/>
                </a:solidFill>
                <a:latin typeface="Arial"/>
              </a:rPr>
              <a:t>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783080"/>
            <a:ext cx="2377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FFC14D"/>
                </a:solidFill>
                <a:latin typeface="Arial"/>
              </a:rPr>
              <a:t>Note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#1–#4 are trust &amp; operations problems — not product problems. No creative outruns a refund queue.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The objections, in their words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721608" cy="4480560"/>
          </a:xfrm>
          <a:prstGeom prst="rect">
            <a:avLst/>
          </a:prstGeom>
          <a:solidFill>
            <a:srgbClr val="17191E"/>
          </a:solidFill>
          <a:ln w="12700">
            <a:solidFill>
              <a:srgbClr val="2C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721608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392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4161A"/>
                </a:solidFill>
                <a:latin typeface="Arial"/>
              </a:rPr>
              <a:t>Customer service / refunds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23160"/>
            <a:ext cx="339242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"22 emails to initiate the return process."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BBB: "required to pay return shipping despite the devices being clearly defective… still awaiting a full refund."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"live-chat is turned off… I want my money back from this fraudulent company."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783080"/>
            <a:ext cx="3721608" cy="4480560"/>
          </a:xfrm>
          <a:prstGeom prst="rect">
            <a:avLst/>
          </a:prstGeom>
          <a:solidFill>
            <a:srgbClr val="17191E"/>
          </a:solidFill>
          <a:ln w="12700">
            <a:solidFill>
              <a:srgbClr val="2C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33672" y="1783080"/>
            <a:ext cx="3721608" cy="5029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828800"/>
            <a:ext cx="3392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4161A"/>
                </a:solidFill>
                <a:latin typeface="Arial"/>
              </a:rPr>
              <a:t>Price &amp;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423160"/>
            <a:ext cx="339242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"Your ad states $199 but at checkout $249 was the only price available."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"Says $199 then when you click it adds another $50. Very sheepish."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"the app is free but only basic — to unlock the full app it is $99/year… deceiving."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1783080"/>
            <a:ext cx="3721608" cy="4480560"/>
          </a:xfrm>
          <a:prstGeom prst="rect">
            <a:avLst/>
          </a:prstGeom>
          <a:solidFill>
            <a:srgbClr val="17191E"/>
          </a:solidFill>
          <a:ln w="12700">
            <a:solidFill>
              <a:srgbClr val="2C3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783080"/>
            <a:ext cx="3721608" cy="502920"/>
          </a:xfrm>
          <a:prstGeom prst="rect">
            <a:avLst/>
          </a:prstGeom>
          <a:solidFill>
            <a:srgbClr val="9AA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828800"/>
            <a:ext cx="33924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4161A"/>
                </a:solidFill>
                <a:latin typeface="Arial"/>
              </a:rPr>
              <a:t>Scam doubt &amp;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423160"/>
            <a:ext cx="339242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"Right after I placed the order I saw a YouTube video 'FAKE'."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Reddit: "using FitTrack as a cover to scam investors."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150" b="0" i="1">
                <a:solidFill>
                  <a:srgbClr val="F5F6F8"/>
                </a:solidFill>
                <a:latin typeface="Arial"/>
              </a:rPr>
              <a:t>"wildly inaccurate vs DEXA — scale showed 10.8% while DEXA showed 15%."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10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100584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5F6F8"/>
                </a:solidFill>
                <a:latin typeface="Arial"/>
              </a:rPr>
              <a:t>FAQs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The questions buyers ask before purchase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Frequently asked questions (of 1,667 questions)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Price / where to buy / membership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74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Most-asked. "$199 or $249? what does Hume+ cost?"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Do I need a phone / the app? Which 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514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"Do I need my phone with me to use it?"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How accurate vs DEXA / how does it 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154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"I thought bone density needed a hospital DEXA."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1277295" cy="566928"/>
          </a:xfrm>
          <a:prstGeom prst="rect">
            <a:avLst/>
          </a:prstGeom>
          <a:solidFill>
            <a:srgbClr val="2A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673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6B6B"/>
                </a:solidFill>
                <a:latin typeface="Arial"/>
              </a:rPr>
              <a:t>Safety: pacemaker / implants / pregnancy?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94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FFC14D"/>
                </a:solidFill>
                <a:latin typeface="Arial"/>
              </a:rPr>
              <a:t>HIGHEST-ENGAGEMENT question — currently UNANSWERED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074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Multiple users / family / weight limit?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434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"Can my mom &amp; dad share one device?"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47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Shipping to UK / Canada / Australia / India?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074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duties &amp; availability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23560"/>
            <a:ext cx="11277295" cy="56692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87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5F6F8"/>
                </a:solidFill>
                <a:latin typeface="Arial"/>
              </a:rPr>
              <a:t>Warranty / returns / trial / data privacy?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715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9AA2AD"/>
                </a:solidFill>
                <a:latin typeface="Arial"/>
              </a:rPr>
              <a:t>"who has access to my data?"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The weekly view: ~50% negative, structurally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80360"/>
            <a:ext cx="713232" cy="2331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877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45336" y="2697480"/>
            <a:ext cx="713232" cy="2514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9616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24048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3063240"/>
            <a:ext cx="713232" cy="214884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27706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47%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2834640"/>
            <a:ext cx="713232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5420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2606040"/>
            <a:ext cx="713232" cy="2606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4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3134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2880360"/>
            <a:ext cx="713232" cy="2331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5877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6" y="2926080"/>
            <a:ext cx="713232" cy="2286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25896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26334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6872" y="2971800"/>
            <a:ext cx="713232" cy="224028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26791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8" y="2926080"/>
            <a:ext cx="713232" cy="2286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6408" y="26334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50%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87384" y="3108960"/>
            <a:ext cx="713232" cy="21031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2816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46%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3429000"/>
            <a:ext cx="713232" cy="178308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313639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39%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97896" y="3108960"/>
            <a:ext cx="713232" cy="210312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52176" y="52578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9AA2AD"/>
                </a:solidFill>
                <a:latin typeface="Arial"/>
              </a:rPr>
              <a:t>W25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52176" y="2816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F5F6F8"/>
                </a:solidFill>
                <a:latin typeface="Arial"/>
              </a:rPr>
              <a:t>46%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16916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% of weekly comments that are negative. Complaints shift over time from "too expensive" (early) → service/refund regret (as units ship).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88920"/>
            <a:ext cx="100584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400" b="1" i="0">
                <a:solidFill>
                  <a:srgbClr val="F5F6F8"/>
                </a:solidFill>
                <a:latin typeface="Arial"/>
              </a:rPr>
              <a:t>ACTIONS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What to do — impact-ranked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Top 5 moves (impact-ranked)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77295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29384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4161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37944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6F8"/>
                </a:solidFill>
                <a:latin typeface="Arial"/>
              </a:rPr>
              <a:t>Fix support visibly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Publish a working contact + refund SLA; stop charging return shipping on defectives. Kills the loudest objection.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1277295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843784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4161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52344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6F8"/>
                </a:solidFill>
                <a:latin typeface="Arial"/>
              </a:rPr>
              <a:t>Put real price + subscription cost in the ad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Kills the price and "deceiving" objections at once.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77295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4161A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66744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6F8"/>
                </a:solidFill>
                <a:latin typeface="Arial"/>
              </a:rPr>
              <a:t>Lead creative with the anti-scale / GLP-1 angle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Trend + fat-vs-muscle — not accuracy claims you can't defend.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11277295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4161A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81144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6F8"/>
                </a:solidFill>
                <a:latin typeface="Arial"/>
              </a:rPr>
              <a:t>Pre-empt the scam doubt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Founder / clinician explainer of how BIA works and what it can't 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11277295" cy="841248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5586984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4161A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95544"/>
            <a:ext cx="10241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5F6F8"/>
                </a:solidFill>
                <a:latin typeface="Arial"/>
              </a:rPr>
              <a:t>Ship an always-on FAQ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9AA2AD"/>
                </a:solidFill>
                <a:latin typeface="Arial"/>
              </a:rPr>
              <a:t>Price, app/phone, pacemaker safety, multi-user, shipping countries.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The #1 strategic risk: the credibility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291840" cy="23774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3291840" cy="762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9AA2AD"/>
                </a:solidFill>
                <a:latin typeface="Arial"/>
              </a:rPr>
              <a:t>Hume.com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4000" b="1" i="0">
                <a:solidFill>
                  <a:srgbClr val="4ADE80"/>
                </a:solidFill>
                <a:latin typeface="Arial"/>
              </a:rPr>
              <a:t>4.8/5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F5F6F8"/>
                </a:solidFill>
                <a:latin typeface="Arial"/>
              </a:rPr>
              <a:t>company-curated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291840" cy="23774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291840" cy="76200"/>
          </a:xfrm>
          <a:prstGeom prst="rect">
            <a:avLst/>
          </a:prstGeom>
          <a:solidFill>
            <a:srgbClr val="FFC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9AA2AD"/>
                </a:solidFill>
                <a:latin typeface="Arial"/>
              </a:rPr>
              <a:t>Trustpilot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4000" b="1" i="0">
                <a:solidFill>
                  <a:srgbClr val="FFC14D"/>
                </a:solidFill>
                <a:latin typeface="Arial"/>
              </a:rPr>
              <a:t>3.6/5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F5F6F8"/>
                </a:solidFill>
                <a:latin typeface="Arial"/>
              </a:rPr>
              <a:t>~4,100–4,800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103120"/>
            <a:ext cx="3291840" cy="2377440"/>
          </a:xfrm>
          <a:prstGeom prst="rect">
            <a:avLst/>
          </a:prstGeom>
          <a:solidFill>
            <a:srgbClr val="1E2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291840" cy="762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9AA2AD"/>
                </a:solidFill>
                <a:latin typeface="Arial"/>
              </a:rPr>
              <a:t>BBB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4000" b="1" i="0">
                <a:solidFill>
                  <a:srgbClr val="FF6B6B"/>
                </a:solidFill>
                <a:latin typeface="Arial"/>
              </a:rPr>
              <a:t>F · 1.01/5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F5F6F8"/>
                </a:solidFill>
                <a:latin typeface="Arial"/>
              </a:rPr>
              <a:t>263 unanswered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6F8"/>
                </a:solidFill>
                <a:latin typeface="Arial"/>
              </a:rPr>
              <a:t>Prospects find the independent reviews and talk each other out of buying in the comments. Closing this gap (support + transparency) is the single highest-ROI lever.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VOICE OF CUSTOMER  ·  HUME HEALTH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03504"/>
            <a:ext cx="502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256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9AA2AD"/>
                </a:solidFill>
                <a:latin typeface="Arial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F5F6F8"/>
                </a:solidFill>
                <a:latin typeface="Arial"/>
              </a:rPr>
              <a:t>Appendix · sources &amp; caveats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Full data &amp; verbatim quotes: Hume Pod Research workbook (7 tabs) + Google Sheet.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F5F6F8"/>
                </a:solidFill>
                <a:latin typeface="Arial"/>
              </a:rPr>
              <a:t>Detailed report: REPORT.md / Hume_Pod_Full_Report.docx.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600" b="0" i="0">
                <a:solidFill>
                  <a:srgbClr val="F5F6F8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C14D"/>
                </a:solidFill>
                <a:latin typeface="Arial"/>
              </a:rPr>
              <a:t>Caveats: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•  Amazon India page un-scrapeable — no India price/reviews (a 4.8/48,252 figure surfaced but is UNVERIFIED).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•  Trustpilot blocked direct scraping (403) — rating via snippets; star histogram unavailable.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•  Reddit hard-blocked — quotes second-hand via aggregators; treat as directional.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•  BBB quotes are fully verified &amp; dated (strongest negative evidence).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•  The FB page mixes Pod (scale) + Band (heart-attack wearable); Band issues bleed onto the Pod.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